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9"/>
  </p:notesMasterIdLst>
  <p:handoutMasterIdLst>
    <p:handoutMasterId r:id="rId10"/>
  </p:handoutMasterIdLst>
  <p:sldIdLst>
    <p:sldId id="256" r:id="rId2"/>
    <p:sldId id="291" r:id="rId3"/>
    <p:sldId id="301" r:id="rId4"/>
    <p:sldId id="305" r:id="rId5"/>
    <p:sldId id="302" r:id="rId6"/>
    <p:sldId id="303" r:id="rId7"/>
    <p:sldId id="304" r:id="rId8"/>
  </p:sldIdLst>
  <p:sldSz cx="9906000" cy="6858000" type="A4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068"/>
    <a:srgbClr val="91F1A8"/>
    <a:srgbClr val="96ECB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1" autoAdjust="0"/>
    <p:restoredTop sz="91361" autoAdjust="0"/>
  </p:normalViewPr>
  <p:slideViewPr>
    <p:cSldViewPr snapToGrid="0">
      <p:cViewPr varScale="1">
        <p:scale>
          <a:sx n="41" d="100"/>
          <a:sy n="41" d="100"/>
        </p:scale>
        <p:origin x="548" y="4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4002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CD46B-D22E-440A-B1E9-D36159B302C9}" type="datetimeFigureOut">
              <a:rPr lang="en-SG" smtClean="0"/>
              <a:t>20/8/2025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81AED-5CA4-4137-B8BB-CCBBBC77BF66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4783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812E0-F71B-433E-AC9B-758ED77A5113}" type="datetimeFigureOut">
              <a:rPr lang="en-SG" smtClean="0"/>
              <a:t>20/8/2025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1243013"/>
            <a:ext cx="4848225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D5175-F0C5-49EF-9E4B-EC5FF3A6CAE4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85795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00075" y="379413"/>
            <a:ext cx="5657850" cy="39179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229000" y="4630065"/>
            <a:ext cx="6400000" cy="391674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D5175-F0C5-49EF-9E4B-EC5FF3A6CAE4}" type="slidenum">
              <a:rPr lang="en-SG" smtClean="0"/>
              <a:t>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92482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1025" y="331788"/>
            <a:ext cx="5654675" cy="39147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209550" y="4525355"/>
            <a:ext cx="6397626" cy="3916740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en-US" dirty="0"/>
              <a:t>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D5175-F0C5-49EF-9E4B-EC5FF3A6CAE4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54956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B9CCC-ED6B-0595-D5D3-4325ACAF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B5FB1-0921-6DB9-8000-53B6B47F9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81025" y="331788"/>
            <a:ext cx="5654675" cy="39147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9BBD4-E134-D717-DCBC-925F469CF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550" y="4525355"/>
            <a:ext cx="6397626" cy="3916740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en-US" dirty="0"/>
              <a:t>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9C303-AD77-0FC6-4A1E-AA3AF1DFA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D5175-F0C5-49EF-9E4B-EC5FF3A6CAE4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66303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29696-DDA5-3900-4AF0-EB3A5CF68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ADE7F-CF9D-4DD6-E4AC-DBDA653CC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81025" y="331788"/>
            <a:ext cx="5654675" cy="39147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7DF7E-8C74-632C-EAAB-AC4F4149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550" y="4525355"/>
            <a:ext cx="6397626" cy="3916740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en-US" dirty="0"/>
              <a:t>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C2E51-369A-61AF-BD94-F1D3E4056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D5175-F0C5-49EF-9E4B-EC5FF3A6CAE4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9283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09953-7B20-D5B4-1C9E-BEB19885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F698B-A4EB-E5BF-59EB-5F788ACBB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81025" y="331788"/>
            <a:ext cx="5654675" cy="39147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283AD-9B74-8619-8E1F-7422574CC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550" y="4525355"/>
            <a:ext cx="6397626" cy="3916740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en-US" dirty="0"/>
              <a:t>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A06C8-C234-0DBD-9404-D8E78531B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D5175-F0C5-49EF-9E4B-EC5FF3A6CAE4}" type="slidenum">
              <a:rPr lang="en-SG" smtClean="0"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98134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A2FE6-DC5B-F584-6C92-D59B55BC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D52A3-A2FE-BABE-6DA4-8A70CF424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81025" y="331788"/>
            <a:ext cx="5654675" cy="39147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5AF48-CAA0-581B-2ECB-2111F9446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550" y="4525355"/>
            <a:ext cx="6397626" cy="3916740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en-US" dirty="0"/>
              <a:t>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D5642-D22F-C2B9-A0F8-8CDCE6EA6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D5175-F0C5-49EF-9E4B-EC5FF3A6CAE4}" type="slidenum">
              <a:rPr lang="en-SG" smtClean="0"/>
              <a:t>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00643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BFF3-F503-D05D-3F9F-B060690A2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3717A-5B65-4081-E8B1-AEE24FBB0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81025" y="331788"/>
            <a:ext cx="5654675" cy="39147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BAD25-17BA-A888-4F53-161C175C6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550" y="4525355"/>
            <a:ext cx="6397626" cy="3916740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en-US" dirty="0"/>
              <a:t>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36B35-040D-304C-02DB-D9FA5185C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D5175-F0C5-49EF-9E4B-EC5FF3A6CAE4}" type="slidenum">
              <a:rPr lang="en-SG" smtClean="0"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14064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4623-E58B-49B4-9936-B243EFBC7976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3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5A9C0-F325-4F67-AF97-A7FAE2DEC124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52965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B608-3C95-4840-9046-0B37BD49485F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987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6"/>
            <a:ext cx="401193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D4AF8-996E-49F1-84D3-C4C62630210F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5982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5"/>
            <a:ext cx="401193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3BBDA-2AFB-4874-A469-A0889B3BDC61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4708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95AB-39CE-4ADD-86E7-1BF388415080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8813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01E7-FB58-4C4E-994F-E9F8D1EEF658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448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78229" y="6459787"/>
            <a:ext cx="2127540" cy="365125"/>
          </a:xfrm>
        </p:spPr>
        <p:txBody>
          <a:bodyPr/>
          <a:lstStyle>
            <a:lvl1pPr algn="l">
              <a:defRPr/>
            </a:lvl1pPr>
          </a:lstStyle>
          <a:p>
            <a:fld id="{90FC80FE-1776-45BA-90EA-0E58F91DE930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19631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2198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D75CB-528A-48EB-BF2C-062F29E8AF52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75951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B682-15BE-432A-B610-F2689154AFDE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3532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5CCA-D4D8-4B1F-BB92-252C2BA4DD59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131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1901DC2-1985-4133-90B7-71A530A318EE}" type="datetime1">
              <a:rPr lang="en-SG" smtClean="0"/>
              <a:t>20/8/2025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BF28668-276B-45C1-A181-AEB78CCD96E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66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70696"/>
            <a:ext cx="9906000" cy="1870147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ME1103 – </a:t>
            </a:r>
            <a:br>
              <a:rPr lang="en-US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</a:b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Principles of Mechanics and Materials</a:t>
            </a:r>
            <a:endParaRPr lang="en-SG" sz="4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350368"/>
            <a:ext cx="9906000" cy="967019"/>
          </a:xfrm>
        </p:spPr>
        <p:txBody>
          <a:bodyPr vert="horz" lIns="91440" tIns="72000" rIns="91440" bIns="3600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+mn-lt"/>
              </a:rPr>
              <a:t>Briefing on Statics and Friction</a:t>
            </a:r>
            <a:endParaRPr lang="en-SG" b="1" dirty="0">
              <a:latin typeface="+mn-lt"/>
            </a:endParaRPr>
          </a:p>
        </p:txBody>
      </p:sp>
      <p:pic>
        <p:nvPicPr>
          <p:cNvPr id="1028" name="Picture 4" descr="http://www.nus.edu.sg/identity/images/identity/logo/fullcolorlog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950" y="0"/>
            <a:ext cx="230505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7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9554"/>
            <a:ext cx="9905999" cy="805551"/>
          </a:xfrm>
          <a:prstGeom prst="rect">
            <a:avLst/>
          </a:prstGeom>
          <a:noFill/>
        </p:spPr>
        <p:txBody>
          <a:bodyPr wrap="square" lIns="540000" tIns="360000" rIns="180000" bIns="72000" rtlCol="0" anchor="ctr" anchorCtr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Statics of Mystery Bar</a:t>
            </a:r>
            <a:endParaRPr lang="en-SG" sz="2400" b="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541761" y="874622"/>
            <a:ext cx="90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http://www.nus.edu.sg/identity/images/identity/logo/fullcolorlogo.jpg"/>
          <p:cNvPicPr preferRelativeResize="0"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4184" r="-5174" b="-4119"/>
          <a:stretch/>
        </p:blipFill>
        <p:spPr bwMode="auto">
          <a:xfrm>
            <a:off x="8256011" y="1"/>
            <a:ext cx="1649999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6416674"/>
            <a:ext cx="9905999" cy="432000"/>
          </a:xfrm>
        </p:spPr>
        <p:txBody>
          <a:bodyPr/>
          <a:lstStyle/>
          <a:p>
            <a:pPr algn="ctr"/>
            <a:fld id="{9BF28668-276B-45C1-A181-AEB78CCD96EB}" type="slidenum">
              <a:rPr lang="en-SG" sz="1200" smtClean="0"/>
              <a:pPr algn="ctr"/>
              <a:t>2</a:t>
            </a:fld>
            <a:endParaRPr lang="en-SG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541761" y="980440"/>
            <a:ext cx="9000001" cy="760959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000" b="1" i="1" dirty="0">
                <a:solidFill>
                  <a:schemeClr val="tx2"/>
                </a:solidFill>
              </a:rPr>
              <a:t>Objective: </a:t>
            </a:r>
            <a:r>
              <a:rPr lang="en-US" sz="2000" i="1" dirty="0">
                <a:solidFill>
                  <a:schemeClr val="tx2"/>
                </a:solidFill>
              </a:rPr>
              <a:t>Applying static analysis to determine the composition of a heterogeneous bar that is made up of aluminum and steel parts.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Picture 4" descr="A diagram of a steel beam&#10;&#10;AI-generated content may be incorrect.">
            <a:extLst>
              <a:ext uri="{FF2B5EF4-FFF2-40B4-BE49-F238E27FC236}">
                <a16:creationId xmlns:a16="http://schemas.microsoft.com/office/drawing/2014/main" id="{F7963394-3DE2-E259-8B24-9414A47CE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068" y="2382578"/>
            <a:ext cx="4833862" cy="14479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5767C3-B561-A544-2244-E267FDF41908}"/>
              </a:ext>
            </a:extLst>
          </p:cNvPr>
          <p:cNvSpPr txBox="1"/>
          <p:nvPr/>
        </p:nvSpPr>
        <p:spPr>
          <a:xfrm>
            <a:off x="541761" y="4471744"/>
            <a:ext cx="9000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8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Determine </a:t>
            </a:r>
            <a:r>
              <a:rPr lang="en-SG" sz="1800" i="1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mass per unit length</a:t>
            </a:r>
            <a:r>
              <a:rPr lang="en-SG" sz="18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 for the different materials from the samples, i.e. </a:t>
            </a:r>
            <a:r>
              <a:rPr lang="en-SG" sz="1800" i="1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m</a:t>
            </a:r>
            <a:r>
              <a:rPr lang="en-SG" sz="1800" i="1" baseline="-250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a</a:t>
            </a:r>
            <a:r>
              <a:rPr lang="en-SG" sz="18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, </a:t>
            </a:r>
            <a:r>
              <a:rPr lang="en-SG" sz="1800" i="1" dirty="0" err="1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m</a:t>
            </a:r>
            <a:r>
              <a:rPr lang="en-SG" sz="1800" i="1" baseline="-25000" dirty="0" err="1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s</a:t>
            </a:r>
            <a:r>
              <a:rPr lang="en-SG" sz="18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, and </a:t>
            </a:r>
            <a:r>
              <a:rPr lang="en-SG" sz="1800" i="1" dirty="0" err="1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m</a:t>
            </a:r>
            <a:r>
              <a:rPr lang="en-SG" sz="1800" i="1" baseline="-25000" dirty="0" err="1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p</a:t>
            </a:r>
            <a:r>
              <a:rPr lang="en-SG" sz="18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Measure the supporting forces </a:t>
            </a:r>
            <a:r>
              <a:rPr lang="en-SG" sz="1800" i="1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R</a:t>
            </a:r>
            <a:r>
              <a:rPr lang="en-SG" sz="1800" i="1" baseline="-250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n-SG" sz="18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, &amp; </a:t>
            </a:r>
            <a:r>
              <a:rPr lang="en-SG" sz="1800" i="1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R</a:t>
            </a:r>
            <a:r>
              <a:rPr lang="en-SG" sz="1800" i="1" baseline="-250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n-SG" i="1" baseline="-250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SG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when it is placed onto the digital scale.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Given that L</a:t>
            </a:r>
            <a:r>
              <a:rPr lang="en-SG" baseline="-250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en-SG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 + L</a:t>
            </a:r>
            <a:r>
              <a:rPr lang="en-SG" baseline="-250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n-SG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 + L</a:t>
            </a:r>
            <a:r>
              <a:rPr lang="en-SG" baseline="-250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3</a:t>
            </a:r>
            <a:r>
              <a:rPr lang="en-SG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 = 300 </a:t>
            </a:r>
            <a:r>
              <a:rPr lang="en-SG" i="1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mm</a:t>
            </a:r>
            <a:r>
              <a:rPr lang="en-SG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, find their actual lengths?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51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C294-1360-BAB1-8C0C-C0E2BC9C0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61D88-5E4F-BF2F-AB35-26D616E9B999}"/>
              </a:ext>
            </a:extLst>
          </p:cNvPr>
          <p:cNvSpPr txBox="1"/>
          <p:nvPr/>
        </p:nvSpPr>
        <p:spPr>
          <a:xfrm>
            <a:off x="0" y="29554"/>
            <a:ext cx="9905999" cy="805551"/>
          </a:xfrm>
          <a:prstGeom prst="rect">
            <a:avLst/>
          </a:prstGeom>
          <a:noFill/>
        </p:spPr>
        <p:txBody>
          <a:bodyPr wrap="square" lIns="540000" tIns="360000" rIns="180000" bIns="72000" rtlCol="0" anchor="ctr" anchorCtr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Statics of Mystery Bar…</a:t>
            </a:r>
            <a:endParaRPr lang="en-SG" sz="2400" b="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39E27-E446-3334-D9F2-D7013E28FCBF}"/>
              </a:ext>
            </a:extLst>
          </p:cNvPr>
          <p:cNvCxnSpPr/>
          <p:nvPr/>
        </p:nvCxnSpPr>
        <p:spPr>
          <a:xfrm>
            <a:off x="541761" y="874622"/>
            <a:ext cx="90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http://www.nus.edu.sg/identity/images/identity/logo/fullcolorlogo.jpg">
            <a:extLst>
              <a:ext uri="{FF2B5EF4-FFF2-40B4-BE49-F238E27FC236}">
                <a16:creationId xmlns:a16="http://schemas.microsoft.com/office/drawing/2014/main" id="{F0229464-1A6A-F5AD-EF88-0C225F686982}"/>
              </a:ext>
            </a:extLst>
          </p:cNvPr>
          <p:cNvPicPr preferRelativeResize="0"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4184" r="-5174" b="-4119"/>
          <a:stretch/>
        </p:blipFill>
        <p:spPr bwMode="auto">
          <a:xfrm>
            <a:off x="8256011" y="1"/>
            <a:ext cx="1649999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34F5C2-C5C5-440B-D5DC-B3383ACB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6674"/>
            <a:ext cx="9905999" cy="432000"/>
          </a:xfrm>
        </p:spPr>
        <p:txBody>
          <a:bodyPr/>
          <a:lstStyle/>
          <a:p>
            <a:pPr algn="ctr"/>
            <a:fld id="{9BF28668-276B-45C1-A181-AEB78CCD96EB}" type="slidenum">
              <a:rPr lang="en-SG" sz="1200" smtClean="0"/>
              <a:pPr algn="ctr"/>
              <a:t>3</a:t>
            </a:fld>
            <a:endParaRPr lang="en-SG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B7596F-4094-789C-2D39-46FFA5088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20" y="2019777"/>
            <a:ext cx="3344896" cy="26869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5152C8-C3B8-AF1C-408A-2A15E0C011BB}"/>
              </a:ext>
            </a:extLst>
          </p:cNvPr>
          <p:cNvSpPr txBox="1"/>
          <p:nvPr/>
        </p:nvSpPr>
        <p:spPr>
          <a:xfrm>
            <a:off x="541761" y="1028286"/>
            <a:ext cx="52829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b="1" dirty="0">
                <a:solidFill>
                  <a:schemeClr val="accent2">
                    <a:lumMod val="50000"/>
                  </a:schemeClr>
                </a:solidFill>
              </a:rPr>
              <a:t>Static Equilibrium &amp; Free Body Diagram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29095E-586C-A4AD-71CE-EA1D869F3F12}"/>
              </a:ext>
            </a:extLst>
          </p:cNvPr>
          <p:cNvGrpSpPr/>
          <p:nvPr/>
        </p:nvGrpSpPr>
        <p:grpSpPr>
          <a:xfrm>
            <a:off x="4214045" y="1584042"/>
            <a:ext cx="5580000" cy="435735"/>
            <a:chOff x="4424357" y="1867023"/>
            <a:chExt cx="5580000" cy="4357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4D7FC56-8992-0370-4629-C66A69E74EDF}"/>
                    </a:ext>
                  </a:extLst>
                </p:cNvPr>
                <p:cNvSpPr txBox="1"/>
                <p:nvPr/>
              </p:nvSpPr>
              <p:spPr>
                <a:xfrm>
                  <a:off x="4424357" y="1889475"/>
                  <a:ext cx="121853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SG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SG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16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SG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SG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SG" sz="1600" dirty="0"/>
                    <a:t>     :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4D7FC56-8992-0370-4629-C66A69E74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4357" y="1889475"/>
                  <a:ext cx="1218539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22500" t="-110909" r="-2000" b="-17272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E1C7FB-F388-3A56-A37C-FF08C051EFE4}"/>
                </a:ext>
              </a:extLst>
            </p:cNvPr>
            <p:cNvSpPr txBox="1"/>
            <p:nvPr/>
          </p:nvSpPr>
          <p:spPr>
            <a:xfrm>
              <a:off x="6731656" y="1901308"/>
              <a:ext cx="17086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600" dirty="0"/>
                <a:t>No x-components 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4D9CFA8-AC72-30BF-5E64-5F33042F3128}"/>
                </a:ext>
              </a:extLst>
            </p:cNvPr>
            <p:cNvSpPr/>
            <p:nvPr/>
          </p:nvSpPr>
          <p:spPr>
            <a:xfrm>
              <a:off x="4424357" y="1867023"/>
              <a:ext cx="5580000" cy="4357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60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CD07B5-2AAC-5B8C-C114-4A78AFCF53D8}"/>
              </a:ext>
            </a:extLst>
          </p:cNvPr>
          <p:cNvGrpSpPr/>
          <p:nvPr/>
        </p:nvGrpSpPr>
        <p:grpSpPr>
          <a:xfrm>
            <a:off x="4206479" y="2285785"/>
            <a:ext cx="5587566" cy="628629"/>
            <a:chOff x="4416791" y="2568766"/>
            <a:chExt cx="5587566" cy="6286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F71F547-E82F-0168-20B0-361C75CB42B5}"/>
                    </a:ext>
                  </a:extLst>
                </p:cNvPr>
                <p:cNvSpPr txBox="1"/>
                <p:nvPr/>
              </p:nvSpPr>
              <p:spPr>
                <a:xfrm>
                  <a:off x="4416791" y="2667088"/>
                  <a:ext cx="1224566" cy="3579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SG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SG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16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SG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r>
                        <a:rPr lang="en-SG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SG" sz="1600" dirty="0"/>
                    <a:t>     :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F71F547-E82F-0168-20B0-361C75CB42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6791" y="2667088"/>
                  <a:ext cx="1224566" cy="357983"/>
                </a:xfrm>
                <a:prstGeom prst="rect">
                  <a:avLst/>
                </a:prstGeom>
                <a:blipFill>
                  <a:blip r:embed="rId6"/>
                  <a:stretch>
                    <a:fillRect l="-22388" t="-101695" r="-1990" b="-15593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73843AE-75A1-C09A-6638-41516CEE2991}"/>
                    </a:ext>
                  </a:extLst>
                </p:cNvPr>
                <p:cNvSpPr txBox="1"/>
                <p:nvPr/>
              </p:nvSpPr>
              <p:spPr>
                <a:xfrm>
                  <a:off x="5903747" y="2593640"/>
                  <a:ext cx="3511429" cy="6037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SG" sz="1600" i="1">
                            <a:latin typeface="Cambria Math" panose="02040503050406030204" pitchFamily="18" charset="0"/>
                          </a:rPr>
                          <m:t>𝑔</m:t>
                        </m:r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SG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SG" sz="1600" i="1">
                            <a:latin typeface="Cambria Math" panose="02040503050406030204" pitchFamily="18" charset="0"/>
                          </a:rPr>
                          <m:t>𝑔</m:t>
                        </m:r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SG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SG" sz="16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SG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SG" sz="1600" i="1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SG" sz="16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73843AE-75A1-C09A-6638-41516CEE29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3747" y="2593640"/>
                  <a:ext cx="3511429" cy="603755"/>
                </a:xfrm>
                <a:prstGeom prst="rect">
                  <a:avLst/>
                </a:prstGeom>
                <a:blipFill>
                  <a:blip r:embed="rId7"/>
                  <a:stretch>
                    <a:fillRect b="-202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2B0F700-792E-64A0-0944-48F0BF1D51A4}"/>
                </a:ext>
              </a:extLst>
            </p:cNvPr>
            <p:cNvSpPr/>
            <p:nvPr/>
          </p:nvSpPr>
          <p:spPr>
            <a:xfrm>
              <a:off x="4424357" y="2568766"/>
              <a:ext cx="5580000" cy="61349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6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B2875C-8C9C-AA5E-22C4-63656868C449}"/>
              </a:ext>
            </a:extLst>
          </p:cNvPr>
          <p:cNvGrpSpPr/>
          <p:nvPr/>
        </p:nvGrpSpPr>
        <p:grpSpPr>
          <a:xfrm>
            <a:off x="4183139" y="3113901"/>
            <a:ext cx="5603340" cy="1240452"/>
            <a:chOff x="4393451" y="3396881"/>
            <a:chExt cx="5603340" cy="15544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22A542F-E582-7E22-D763-93151BA8A80D}"/>
                    </a:ext>
                  </a:extLst>
                </p:cNvPr>
                <p:cNvSpPr txBox="1"/>
                <p:nvPr/>
              </p:nvSpPr>
              <p:spPr>
                <a:xfrm>
                  <a:off x="4393451" y="3986929"/>
                  <a:ext cx="1269835" cy="4242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SG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SG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SG" sz="1600" b="0" i="1" smtClean="0">
                                  <a:latin typeface="Cambria Math" panose="02040503050406030204" pitchFamily="18" charset="0"/>
                                </a:rPr>
                                <m:t>"1"</m:t>
                              </m:r>
                            </m:sub>
                          </m:sSub>
                        </m:e>
                      </m:nary>
                      <m:r>
                        <a:rPr lang="en-SG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SG" sz="1600" dirty="0"/>
                    <a:t>  :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22A542F-E582-7E22-D763-93151BA8A8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3451" y="3986929"/>
                  <a:ext cx="1269835" cy="424256"/>
                </a:xfrm>
                <a:prstGeom prst="rect">
                  <a:avLst/>
                </a:prstGeom>
                <a:blipFill>
                  <a:blip r:embed="rId8"/>
                  <a:stretch>
                    <a:fillRect l="-21531" t="-108929" r="-1435" b="-16785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E89AF3-0CD7-6140-CDCC-C525E028DA96}"/>
                    </a:ext>
                  </a:extLst>
                </p:cNvPr>
                <p:cNvSpPr txBox="1"/>
                <p:nvPr/>
              </p:nvSpPr>
              <p:spPr>
                <a:xfrm>
                  <a:off x="5625136" y="3449089"/>
                  <a:ext cx="4213807" cy="15022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SG" sz="1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sSub>
                              <m:sSubPr>
                                <m:ctrlPr>
                                  <a:rPr lang="en-SG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SG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f>
                          <m:fPr>
                            <m:ctrlP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SG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SG" sz="1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sSub>
                              <m:sSubPr>
                                <m:ctrlPr>
                                  <a:rPr lang="en-SG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SG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SG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SG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SG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16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SG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SG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SG" sz="1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sSub>
                              <m:sSubPr>
                                <m:ctrlPr>
                                  <a:rPr lang="en-SG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SG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SG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SG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SG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SG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SG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16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SG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SG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SG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SG" sz="1600" i="1">
                                <a:latin typeface="Cambria Math" panose="02040503050406030204" pitchFamily="18" charset="0"/>
                              </a:rPr>
                              <m:t>𝑔𝐿</m:t>
                            </m:r>
                          </m:e>
                        </m:d>
                        <m:f>
                          <m:fPr>
                            <m:ctrlPr>
                              <a:rPr lang="en-SG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SG" sz="1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E89AF3-0CD7-6140-CDCC-C525E028D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5136" y="3449089"/>
                  <a:ext cx="4213807" cy="150225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7DE51EE-0ED1-E246-1993-052F55C2CCF5}"/>
                </a:ext>
              </a:extLst>
            </p:cNvPr>
            <p:cNvSpPr/>
            <p:nvPr/>
          </p:nvSpPr>
          <p:spPr>
            <a:xfrm>
              <a:off x="4416791" y="3396881"/>
              <a:ext cx="5580000" cy="1552140"/>
            </a:xfrm>
            <a:prstGeom prst="roundRect">
              <a:avLst>
                <a:gd name="adj" fmla="val 6444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60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FD78E95-CAB8-C6E2-591C-2EF24D08BC4C}"/>
              </a:ext>
            </a:extLst>
          </p:cNvPr>
          <p:cNvGrpSpPr/>
          <p:nvPr/>
        </p:nvGrpSpPr>
        <p:grpSpPr>
          <a:xfrm>
            <a:off x="4214045" y="4542855"/>
            <a:ext cx="5580000" cy="435735"/>
            <a:chOff x="4214045" y="4542855"/>
            <a:chExt cx="5580000" cy="4357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586FA52-D966-19CF-C140-CEC96D7476D8}"/>
                    </a:ext>
                  </a:extLst>
                </p:cNvPr>
                <p:cNvSpPr txBox="1"/>
                <p:nvPr/>
              </p:nvSpPr>
              <p:spPr>
                <a:xfrm>
                  <a:off x="5910203" y="4582306"/>
                  <a:ext cx="170995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SG" sz="160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SG" sz="1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586FA52-D966-19CF-C140-CEC96D747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0203" y="4582306"/>
                  <a:ext cx="1709955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81776B4-912F-FDD5-032E-4A815B371C28}"/>
                </a:ext>
              </a:extLst>
            </p:cNvPr>
            <p:cNvSpPr/>
            <p:nvPr/>
          </p:nvSpPr>
          <p:spPr>
            <a:xfrm>
              <a:off x="4214045" y="4542855"/>
              <a:ext cx="5580000" cy="4357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247123E-1E85-C448-0756-6EF674EF4068}"/>
              </a:ext>
            </a:extLst>
          </p:cNvPr>
          <p:cNvSpPr txBox="1"/>
          <p:nvPr/>
        </p:nvSpPr>
        <p:spPr>
          <a:xfrm>
            <a:off x="541761" y="5251506"/>
            <a:ext cx="9000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SG" sz="2000" b="1" dirty="0">
                <a:solidFill>
                  <a:schemeClr val="tx2"/>
                </a:solidFill>
              </a:rPr>
              <a:t>3 equations with 3 unknows! YEAH, we could solve these unknows.</a:t>
            </a:r>
          </a:p>
          <a:p>
            <a:pPr algn="ctr">
              <a:spcAft>
                <a:spcPts val="1200"/>
              </a:spcAft>
            </a:pPr>
            <a:r>
              <a:rPr lang="en-SG" sz="2000" b="1" dirty="0">
                <a:solidFill>
                  <a:schemeClr val="tx2"/>
                </a:solidFill>
              </a:rPr>
              <a:t>BUT moment equation is </a:t>
            </a:r>
            <a:r>
              <a:rPr lang="en-SG" sz="2000" b="1" i="1" dirty="0">
                <a:solidFill>
                  <a:srgbClr val="FF0000"/>
                </a:solidFill>
              </a:rPr>
              <a:t>NON-LINEAR</a:t>
            </a:r>
            <a:r>
              <a:rPr lang="en-SG" sz="2000" b="1" dirty="0">
                <a:solidFill>
                  <a:schemeClr val="tx2"/>
                </a:solidFill>
              </a:rPr>
              <a:t> and hence difficult to solve analytically.</a:t>
            </a:r>
          </a:p>
        </p:txBody>
      </p:sp>
    </p:spTree>
    <p:extLst>
      <p:ext uri="{BB962C8B-B14F-4D97-AF65-F5344CB8AC3E}">
        <p14:creationId xmlns:p14="http://schemas.microsoft.com/office/powerpoint/2010/main" val="202853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417AB-5DB2-1F02-0E7F-A38C0CBE2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7028F4-E8AF-844C-AAC1-C10FA24F8D12}"/>
              </a:ext>
            </a:extLst>
          </p:cNvPr>
          <p:cNvSpPr txBox="1"/>
          <p:nvPr/>
        </p:nvSpPr>
        <p:spPr>
          <a:xfrm>
            <a:off x="0" y="29554"/>
            <a:ext cx="9905999" cy="805551"/>
          </a:xfrm>
          <a:prstGeom prst="rect">
            <a:avLst/>
          </a:prstGeom>
          <a:noFill/>
        </p:spPr>
        <p:txBody>
          <a:bodyPr wrap="square" lIns="540000" tIns="360000" rIns="180000" bIns="72000" rtlCol="0" anchor="ctr" anchorCtr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Statics of Mystery Bar…</a:t>
            </a:r>
            <a:endParaRPr lang="en-SG" sz="2400" b="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829EC6-E21C-F041-E556-8DD3E8A5BAEC}"/>
              </a:ext>
            </a:extLst>
          </p:cNvPr>
          <p:cNvCxnSpPr/>
          <p:nvPr/>
        </p:nvCxnSpPr>
        <p:spPr>
          <a:xfrm>
            <a:off x="541761" y="874622"/>
            <a:ext cx="90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http://www.nus.edu.sg/identity/images/identity/logo/fullcolorlogo.jpg">
            <a:extLst>
              <a:ext uri="{FF2B5EF4-FFF2-40B4-BE49-F238E27FC236}">
                <a16:creationId xmlns:a16="http://schemas.microsoft.com/office/drawing/2014/main" id="{39B43107-F641-5AB6-F28A-71346F8E2DC5}"/>
              </a:ext>
            </a:extLst>
          </p:cNvPr>
          <p:cNvPicPr preferRelativeResize="0"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4184" r="-5174" b="-4119"/>
          <a:stretch/>
        </p:blipFill>
        <p:spPr bwMode="auto">
          <a:xfrm>
            <a:off x="8256011" y="1"/>
            <a:ext cx="1649999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3AC9A6-119B-EA23-C836-892F9940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6674"/>
            <a:ext cx="9905999" cy="432000"/>
          </a:xfrm>
        </p:spPr>
        <p:txBody>
          <a:bodyPr/>
          <a:lstStyle/>
          <a:p>
            <a:pPr algn="ctr"/>
            <a:fld id="{9BF28668-276B-45C1-A181-AEB78CCD96EB}" type="slidenum">
              <a:rPr lang="en-SG" sz="1200" smtClean="0"/>
              <a:pPr algn="ctr"/>
              <a:t>4</a:t>
            </a:fld>
            <a:endParaRPr lang="en-SG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28A61-2A83-7BC4-A7B7-9FFB7DC55270}"/>
              </a:ext>
            </a:extLst>
          </p:cNvPr>
          <p:cNvSpPr txBox="1"/>
          <p:nvPr/>
        </p:nvSpPr>
        <p:spPr>
          <a:xfrm>
            <a:off x="541761" y="1012242"/>
            <a:ext cx="6211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b="1" dirty="0">
                <a:solidFill>
                  <a:schemeClr val="accent2">
                    <a:lumMod val="50000"/>
                  </a:schemeClr>
                </a:solidFill>
              </a:rPr>
              <a:t>Changing perspective with </a:t>
            </a:r>
            <a:r>
              <a:rPr lang="en-SG" sz="2000" b="1" i="1" u="sng" dirty="0">
                <a:solidFill>
                  <a:schemeClr val="accent2">
                    <a:lumMod val="50000"/>
                  </a:schemeClr>
                </a:solidFill>
              </a:rPr>
              <a:t>Principle of Superposition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63F87A-7E7A-FC13-AC52-9202DFCBEC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502"/>
          <a:stretch>
            <a:fillRect/>
          </a:stretch>
        </p:blipFill>
        <p:spPr>
          <a:xfrm>
            <a:off x="1612253" y="1845648"/>
            <a:ext cx="2914028" cy="36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6E986F-294D-C9C7-067A-40D7659A09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137" r="265"/>
          <a:stretch>
            <a:fillRect/>
          </a:stretch>
        </p:blipFill>
        <p:spPr>
          <a:xfrm>
            <a:off x="4703064" y="1845648"/>
            <a:ext cx="359068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4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75669-F9AE-27AD-73A5-AACEFB71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7CF24-BD3E-0199-FE5E-F6411782EDF2}"/>
              </a:ext>
            </a:extLst>
          </p:cNvPr>
          <p:cNvSpPr txBox="1"/>
          <p:nvPr/>
        </p:nvSpPr>
        <p:spPr>
          <a:xfrm>
            <a:off x="0" y="29554"/>
            <a:ext cx="9905999" cy="805551"/>
          </a:xfrm>
          <a:prstGeom prst="rect">
            <a:avLst/>
          </a:prstGeom>
          <a:noFill/>
        </p:spPr>
        <p:txBody>
          <a:bodyPr wrap="square" lIns="540000" tIns="360000" rIns="180000" bIns="72000" rtlCol="0" anchor="ctr" anchorCtr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Statics of Mystery Bar…</a:t>
            </a:r>
            <a:endParaRPr lang="en-SG" sz="2400" b="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E7C1D1-D442-CDE5-C106-81770B33F92C}"/>
              </a:ext>
            </a:extLst>
          </p:cNvPr>
          <p:cNvCxnSpPr/>
          <p:nvPr/>
        </p:nvCxnSpPr>
        <p:spPr>
          <a:xfrm>
            <a:off x="541761" y="874622"/>
            <a:ext cx="90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http://www.nus.edu.sg/identity/images/identity/logo/fullcolorlogo.jpg">
            <a:extLst>
              <a:ext uri="{FF2B5EF4-FFF2-40B4-BE49-F238E27FC236}">
                <a16:creationId xmlns:a16="http://schemas.microsoft.com/office/drawing/2014/main" id="{2CC81B4D-A939-DF80-CFB6-5CDCA1C3300B}"/>
              </a:ext>
            </a:extLst>
          </p:cNvPr>
          <p:cNvPicPr preferRelativeResize="0"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4184" r="-5174" b="-4119"/>
          <a:stretch/>
        </p:blipFill>
        <p:spPr bwMode="auto">
          <a:xfrm>
            <a:off x="8256011" y="1"/>
            <a:ext cx="1649999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4CC431-7DE4-C541-8F0C-11ADACF96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6674"/>
            <a:ext cx="9905999" cy="432000"/>
          </a:xfrm>
        </p:spPr>
        <p:txBody>
          <a:bodyPr/>
          <a:lstStyle/>
          <a:p>
            <a:pPr algn="ctr"/>
            <a:fld id="{9BF28668-276B-45C1-A181-AEB78CCD96EB}" type="slidenum">
              <a:rPr lang="en-SG" sz="1200" smtClean="0"/>
              <a:pPr algn="ctr"/>
              <a:t>5</a:t>
            </a:fld>
            <a:endParaRPr lang="en-SG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1C9507-41B9-48E8-4368-8E5EA2BA91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121" r="56872" b="12077"/>
          <a:stretch>
            <a:fillRect/>
          </a:stretch>
        </p:blipFill>
        <p:spPr>
          <a:xfrm>
            <a:off x="1371092" y="1521582"/>
            <a:ext cx="2889274" cy="2404872"/>
          </a:xfrm>
          <a:prstGeom prst="rect">
            <a:avLst/>
          </a:prstGeom>
        </p:spPr>
      </p:pic>
      <p:pic>
        <p:nvPicPr>
          <p:cNvPr id="10" name="Picture 9" descr="A diagram of a diagram of a red rectangular object with arrows&#10;&#10;AI-generated content may be incorrect.">
            <a:extLst>
              <a:ext uri="{FF2B5EF4-FFF2-40B4-BE49-F238E27FC236}">
                <a16:creationId xmlns:a16="http://schemas.microsoft.com/office/drawing/2014/main" id="{779A0303-8933-64A7-476F-3E7FC6CDB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2040" y="4435819"/>
            <a:ext cx="3801918" cy="129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B41409-93E2-9B53-A087-32AA88D7F1AE}"/>
              </a:ext>
            </a:extLst>
          </p:cNvPr>
          <p:cNvSpPr txBox="1"/>
          <p:nvPr/>
        </p:nvSpPr>
        <p:spPr>
          <a:xfrm>
            <a:off x="6912109" y="4378942"/>
            <a:ext cx="26878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1600" b="1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Apply static analysis to this simplified problem to solve for the lengths of the rods.</a:t>
            </a:r>
            <a:endParaRPr lang="en-SG" sz="1600" b="1" dirty="0"/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5AC0F672-DC1E-360F-03DB-6041C4E02B45}"/>
              </a:ext>
            </a:extLst>
          </p:cNvPr>
          <p:cNvSpPr/>
          <p:nvPr/>
        </p:nvSpPr>
        <p:spPr>
          <a:xfrm>
            <a:off x="4660560" y="2544018"/>
            <a:ext cx="432000" cy="360000"/>
          </a:xfrm>
          <a:prstGeom prst="mathMinus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03996E2D-9C68-FFEB-1DE7-2AFC1DA0F212}"/>
              </a:ext>
            </a:extLst>
          </p:cNvPr>
          <p:cNvSpPr/>
          <p:nvPr/>
        </p:nvSpPr>
        <p:spPr>
          <a:xfrm rot="16200000">
            <a:off x="4728755" y="382398"/>
            <a:ext cx="457200" cy="7349161"/>
          </a:xfrm>
          <a:prstGeom prst="leftBrace">
            <a:avLst>
              <a:gd name="adj1" fmla="val 38333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C9DF91D-D79A-5096-B18B-23B31CCF8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6846" y="1099554"/>
            <a:ext cx="3085090" cy="268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9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CFF7-00F8-72E9-2CB2-6740A600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2F394C-6163-D1EE-81E7-C67FA7762F23}"/>
              </a:ext>
            </a:extLst>
          </p:cNvPr>
          <p:cNvSpPr txBox="1"/>
          <p:nvPr/>
        </p:nvSpPr>
        <p:spPr>
          <a:xfrm>
            <a:off x="0" y="29554"/>
            <a:ext cx="9905999" cy="805551"/>
          </a:xfrm>
          <a:prstGeom prst="rect">
            <a:avLst/>
          </a:prstGeom>
          <a:noFill/>
        </p:spPr>
        <p:txBody>
          <a:bodyPr wrap="square" lIns="540000" tIns="360000" rIns="180000" bIns="72000" rtlCol="0" anchor="ctr" anchorCtr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Friction</a:t>
            </a:r>
            <a:endParaRPr lang="en-SG" sz="2400" b="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5FF71A-9221-FE7F-E777-79EADB650036}"/>
              </a:ext>
            </a:extLst>
          </p:cNvPr>
          <p:cNvCxnSpPr/>
          <p:nvPr/>
        </p:nvCxnSpPr>
        <p:spPr>
          <a:xfrm>
            <a:off x="541761" y="874622"/>
            <a:ext cx="90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http://www.nus.edu.sg/identity/images/identity/logo/fullcolorlogo.jpg">
            <a:extLst>
              <a:ext uri="{FF2B5EF4-FFF2-40B4-BE49-F238E27FC236}">
                <a16:creationId xmlns:a16="http://schemas.microsoft.com/office/drawing/2014/main" id="{116DA402-F9D4-3E70-7256-366C0FCDBC4A}"/>
              </a:ext>
            </a:extLst>
          </p:cNvPr>
          <p:cNvPicPr preferRelativeResize="0"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4184" r="-5174" b="-4119"/>
          <a:stretch/>
        </p:blipFill>
        <p:spPr bwMode="auto">
          <a:xfrm>
            <a:off x="8256011" y="1"/>
            <a:ext cx="1649999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5758E1-8506-B896-3D6B-2805EBD2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6674"/>
            <a:ext cx="9905999" cy="432000"/>
          </a:xfrm>
        </p:spPr>
        <p:txBody>
          <a:bodyPr/>
          <a:lstStyle/>
          <a:p>
            <a:pPr algn="ctr"/>
            <a:fld id="{9BF28668-276B-45C1-A181-AEB78CCD96EB}" type="slidenum">
              <a:rPr lang="en-SG" sz="1200" smtClean="0"/>
              <a:pPr algn="ctr"/>
              <a:t>6</a:t>
            </a:fld>
            <a:endParaRPr lang="en-SG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2B40D-93FB-3DAF-CD4E-1F61A0F080C2}"/>
              </a:ext>
            </a:extLst>
          </p:cNvPr>
          <p:cNvSpPr txBox="1"/>
          <p:nvPr/>
        </p:nvSpPr>
        <p:spPr>
          <a:xfrm>
            <a:off x="541760" y="1040828"/>
            <a:ext cx="9000001" cy="760959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000" b="1" i="1" dirty="0">
                <a:solidFill>
                  <a:schemeClr val="tx2"/>
                </a:solidFill>
              </a:rPr>
              <a:t>Objective: </a:t>
            </a:r>
            <a:r>
              <a:rPr lang="en-US" sz="2000" i="1" dirty="0">
                <a:solidFill>
                  <a:schemeClr val="tx2"/>
                </a:solidFill>
              </a:rPr>
              <a:t>Using the inclination test to investigate the characteristics of the coefficient of static friction.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8" name="Picture 7" descr="A diagram of a wooden cube&#10;&#10;AI-generated content may be incorrect.">
            <a:extLst>
              <a:ext uri="{FF2B5EF4-FFF2-40B4-BE49-F238E27FC236}">
                <a16:creationId xmlns:a16="http://schemas.microsoft.com/office/drawing/2014/main" id="{53FBAD76-FAD0-152B-A1A0-B4ABE49E1F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-771"/>
          <a:stretch>
            <a:fillRect/>
          </a:stretch>
        </p:blipFill>
        <p:spPr bwMode="auto">
          <a:xfrm>
            <a:off x="1150919" y="4178661"/>
            <a:ext cx="1846183" cy="19468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A8416A-E4D8-39C5-B4D3-1DDC7DD1D44D}"/>
                  </a:ext>
                </a:extLst>
              </p:cNvPr>
              <p:cNvSpPr txBox="1"/>
              <p:nvPr/>
            </p:nvSpPr>
            <p:spPr>
              <a:xfrm>
                <a:off x="3282697" y="4063294"/>
                <a:ext cx="6259064" cy="1199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𝑁</m:t>
                      </m:r>
                      <m:r>
                        <a:rPr lang="en-SG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SG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𝑊𝑐𝑜𝑠</m:t>
                      </m:r>
                      <m:r>
                        <a:rPr lang="en-SG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𝜃</m:t>
                      </m:r>
                      <m:r>
                        <a:rPr lang="en-SG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 </m:t>
                      </m:r>
                      <m:r>
                        <a:rPr lang="en-SG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𝑎𝑛𝑑</m:t>
                      </m:r>
                      <m:r>
                        <a:rPr lang="en-SG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  </m:t>
                      </m:r>
                      <m:r>
                        <a:rPr lang="el-GR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𝐹</m:t>
                      </m:r>
                      <m:r>
                        <a:rPr lang="en-SG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SG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𝑊𝑠𝑖𝑛</m:t>
                      </m:r>
                      <m:r>
                        <a:rPr lang="en-SG" i="1" smtClean="0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𝜃</m:t>
                      </m:r>
                    </m:oMath>
                  </m:oMathPara>
                </a14:m>
                <a:endParaRPr lang="en-SG" i="1" dirty="0">
                  <a:solidFill>
                    <a:schemeClr val="tx2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smtClean="0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SG" i="1">
                              <a:solidFill>
                                <a:schemeClr val="tx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l-GR" i="1">
                              <a:solidFill>
                                <a:schemeClr val="tx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l-GR" i="1">
                              <a:solidFill>
                                <a:schemeClr val="tx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r>
                        <a:rPr lang="en-SG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SG" i="1">
                              <a:solidFill>
                                <a:schemeClr val="tx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SG" i="1">
                              <a:solidFill>
                                <a:schemeClr val="tx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𝑊𝑠𝑖𝑛</m:t>
                          </m:r>
                          <m:r>
                            <a:rPr lang="en-SG" i="1">
                              <a:solidFill>
                                <a:schemeClr val="tx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SG" i="1">
                              <a:solidFill>
                                <a:schemeClr val="tx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𝑊𝑐𝑜𝑠</m:t>
                          </m:r>
                          <m:r>
                            <a:rPr lang="en-SG" i="1">
                              <a:solidFill>
                                <a:schemeClr val="tx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den>
                      </m:f>
                      <m:r>
                        <a:rPr lang="el-GR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SG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𝑡𝑎𝑛</m:t>
                      </m:r>
                      <m:r>
                        <a:rPr lang="en-SG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𝜃</m:t>
                      </m:r>
                    </m:oMath>
                  </m:oMathPara>
                </a14:m>
                <a:endParaRPr lang="en-SG" dirty="0">
                  <a:solidFill>
                    <a:schemeClr val="tx2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A8416A-E4D8-39C5-B4D3-1DDC7DD1D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697" y="4063294"/>
                <a:ext cx="6259064" cy="11998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06195C68-1F87-1BBA-C233-8991B50AF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45" y="1963132"/>
            <a:ext cx="4354744" cy="17826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673775-1473-7BC2-458A-06338761A1D4}"/>
                  </a:ext>
                </a:extLst>
              </p:cNvPr>
              <p:cNvSpPr txBox="1"/>
              <p:nvPr/>
            </p:nvSpPr>
            <p:spPr>
              <a:xfrm>
                <a:off x="5187017" y="2130938"/>
                <a:ext cx="4354744" cy="1193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SG" i="1" dirty="0">
                    <a:solidFill>
                      <a:schemeClr val="tx2"/>
                    </a:solidFill>
                  </a:rPr>
                  <a:t>At the point of slippage,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SG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SG" i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G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SG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SG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SG" i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en-SG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SG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SG" i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SG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SG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SG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SG" i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SG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673775-1473-7BC2-458A-06338761A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017" y="2130938"/>
                <a:ext cx="4354744" cy="1193853"/>
              </a:xfrm>
              <a:prstGeom prst="rect">
                <a:avLst/>
              </a:prstGeom>
              <a:blipFill>
                <a:blip r:embed="rId7"/>
                <a:stretch>
                  <a:fillRect l="-1261" t="-307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92C7ED4-01E8-58E0-9BCE-46E2AA2316D6}"/>
                  </a:ext>
                </a:extLst>
              </p:cNvPr>
              <p:cNvSpPr txBox="1"/>
              <p:nvPr/>
            </p:nvSpPr>
            <p:spPr>
              <a:xfrm>
                <a:off x="3282698" y="5340118"/>
                <a:ext cx="6259063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SG" i="1" dirty="0">
                    <a:solidFill>
                      <a:schemeClr val="tx2"/>
                    </a:solidFill>
                  </a:rPr>
                  <a:t>Again at the point of slippage,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𝐹</m:t>
                    </m:r>
                    <m:r>
                      <a:rPr lang="en-SG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SG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SG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SG" i="1" dirty="0">
                    <a:solidFill>
                      <a:schemeClr val="tx2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SG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𝜃</m:t>
                    </m:r>
                    <m:r>
                      <a:rPr lang="en-SG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en-SG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𝛷</m:t>
                    </m:r>
                  </m:oMath>
                </a14:m>
                <a:r>
                  <a:rPr lang="en-SG" i="1" dirty="0">
                    <a:solidFill>
                      <a:schemeClr val="tx2"/>
                    </a:solidFill>
                  </a:rPr>
                  <a:t>, </a:t>
                </a:r>
                <a:r>
                  <a:rPr lang="en-SG" dirty="0">
                    <a:solidFill>
                      <a:schemeClr val="tx2"/>
                    </a:solidFill>
                  </a:rPr>
                  <a:t>we have</a:t>
                </a:r>
              </a:p>
              <a:p>
                <a:pPr algn="just">
                  <a:spcBef>
                    <a:spcPts val="6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b="1" i="1">
                              <a:solidFill>
                                <a:schemeClr val="tx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SG" b="1" i="1">
                              <a:solidFill>
                                <a:schemeClr val="tx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SG" b="1" i="1">
                              <a:solidFill>
                                <a:schemeClr val="tx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l-GR" b="1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SG" b="1" i="1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𝒕𝒂𝒏</m:t>
                      </m:r>
                      <m:r>
                        <a:rPr lang="en-SG" b="1" i="1" smtClean="0">
                          <a:solidFill>
                            <a:schemeClr val="tx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𝜱</m:t>
                      </m:r>
                    </m:oMath>
                  </m:oMathPara>
                </a14:m>
                <a:endParaRPr lang="en-SG" b="1" dirty="0">
                  <a:solidFill>
                    <a:schemeClr val="tx2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92C7ED4-01E8-58E0-9BCE-46E2AA231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698" y="5340118"/>
                <a:ext cx="6259063" cy="954107"/>
              </a:xfrm>
              <a:prstGeom prst="rect">
                <a:avLst/>
              </a:prstGeom>
              <a:blipFill>
                <a:blip r:embed="rId8"/>
                <a:stretch>
                  <a:fillRect l="-877" t="-318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8613A5-86BD-5666-DD3F-8E499FB98010}"/>
              </a:ext>
            </a:extLst>
          </p:cNvPr>
          <p:cNvSpPr/>
          <p:nvPr/>
        </p:nvSpPr>
        <p:spPr>
          <a:xfrm>
            <a:off x="5702300" y="5816600"/>
            <a:ext cx="1422400" cy="33105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324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8" grpId="0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3BC38-0000-7F7D-E314-1705F804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0695AD-D088-9601-431A-8F97D2D55E53}"/>
              </a:ext>
            </a:extLst>
          </p:cNvPr>
          <p:cNvSpPr txBox="1"/>
          <p:nvPr/>
        </p:nvSpPr>
        <p:spPr>
          <a:xfrm>
            <a:off x="0" y="29554"/>
            <a:ext cx="9905999" cy="805551"/>
          </a:xfrm>
          <a:prstGeom prst="rect">
            <a:avLst/>
          </a:prstGeom>
          <a:noFill/>
        </p:spPr>
        <p:txBody>
          <a:bodyPr wrap="square" lIns="540000" tIns="360000" rIns="180000" bIns="72000" rtlCol="0" anchor="ctr" anchorCtr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Friction…</a:t>
            </a:r>
            <a:endParaRPr lang="en-SG" sz="2400" b="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4D18B3-F220-8A51-A24F-AB76AC455F96}"/>
              </a:ext>
            </a:extLst>
          </p:cNvPr>
          <p:cNvCxnSpPr/>
          <p:nvPr/>
        </p:nvCxnSpPr>
        <p:spPr>
          <a:xfrm>
            <a:off x="541761" y="874622"/>
            <a:ext cx="90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http://www.nus.edu.sg/identity/images/identity/logo/fullcolorlogo.jpg">
            <a:extLst>
              <a:ext uri="{FF2B5EF4-FFF2-40B4-BE49-F238E27FC236}">
                <a16:creationId xmlns:a16="http://schemas.microsoft.com/office/drawing/2014/main" id="{B84527FB-C105-7B37-463D-076157C1FF5B}"/>
              </a:ext>
            </a:extLst>
          </p:cNvPr>
          <p:cNvPicPr preferRelativeResize="0"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4184" r="-5174" b="-4119"/>
          <a:stretch/>
        </p:blipFill>
        <p:spPr bwMode="auto">
          <a:xfrm>
            <a:off x="8256011" y="1"/>
            <a:ext cx="1649999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A298C-8E6E-F141-F5E1-57065E52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16674"/>
            <a:ext cx="9905999" cy="432000"/>
          </a:xfrm>
        </p:spPr>
        <p:txBody>
          <a:bodyPr/>
          <a:lstStyle/>
          <a:p>
            <a:pPr algn="ctr"/>
            <a:fld id="{9BF28668-276B-45C1-A181-AEB78CCD96EB}" type="slidenum">
              <a:rPr lang="en-SG" sz="1200" smtClean="0"/>
              <a:pPr algn="ctr"/>
              <a:t>7</a:t>
            </a:fld>
            <a:endParaRPr lang="en-SG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5BA7D5-AEB6-DF4C-A8BC-ED2A52DE1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32" y="2724631"/>
            <a:ext cx="3739728" cy="25513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FBBC94-4F73-C5FD-760E-98FBC718F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033" y="1026942"/>
            <a:ext cx="5833727" cy="26288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692140-D389-DFB6-9137-E332EE8A8C0D}"/>
              </a:ext>
            </a:extLst>
          </p:cNvPr>
          <p:cNvSpPr txBox="1"/>
          <p:nvPr/>
        </p:nvSpPr>
        <p:spPr>
          <a:xfrm>
            <a:off x="3921087" y="3931626"/>
            <a:ext cx="57012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800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Established the initial flat position of the platform.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Determine the angles of inclination for different combinations of block and platform surfaces.</a:t>
            </a:r>
            <a:endParaRPr lang="en-SG" sz="1800" dirty="0">
              <a:solidFill>
                <a:schemeClr val="accent2">
                  <a:lumMod val="50000"/>
                </a:schemeClr>
              </a:solidFill>
              <a:sym typeface="Symbol" panose="05050102010706020507" pitchFamily="18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B754E-E15A-6B09-9129-E8A2F99BFD02}"/>
              </a:ext>
            </a:extLst>
          </p:cNvPr>
          <p:cNvSpPr txBox="1"/>
          <p:nvPr/>
        </p:nvSpPr>
        <p:spPr>
          <a:xfrm>
            <a:off x="452999" y="5551796"/>
            <a:ext cx="9088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tx2"/>
                </a:solidFill>
              </a:rPr>
              <a:t>Finally, complete the log sheet provided and submit the </a:t>
            </a:r>
            <a:r>
              <a:rPr lang="en-US" b="1" i="1" u="sng" dirty="0">
                <a:solidFill>
                  <a:schemeClr val="tx2"/>
                </a:solidFill>
              </a:rPr>
              <a:t>GROUP</a:t>
            </a:r>
            <a:r>
              <a:rPr lang="en-US" b="1" dirty="0">
                <a:solidFill>
                  <a:schemeClr val="tx2"/>
                </a:solidFill>
              </a:rPr>
              <a:t> report onto the lab folder in CANVAS by the end of the lab session.</a:t>
            </a:r>
            <a:endParaRPr lang="en-SG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7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25010</TotalTime>
  <Words>357</Words>
  <Application>Microsoft Office PowerPoint</Application>
  <PresentationFormat>A4 Paper (210x297 mm)</PresentationFormat>
  <Paragraphs>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Symbol</vt:lpstr>
      <vt:lpstr>Times New Roman</vt:lpstr>
      <vt:lpstr>Retrospect</vt:lpstr>
      <vt:lpstr>ME1103 –  Principles of Mechanics and Materials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ME5106 – ENGINERING ACOUSTICS</dc:title>
  <dc:creator>Ong Eng Teo</dc:creator>
  <cp:lastModifiedBy>Ong Eng Teo</cp:lastModifiedBy>
  <cp:revision>2566</cp:revision>
  <cp:lastPrinted>2015-08-20T04:27:16Z</cp:lastPrinted>
  <dcterms:created xsi:type="dcterms:W3CDTF">2014-11-18T05:31:35Z</dcterms:created>
  <dcterms:modified xsi:type="dcterms:W3CDTF">2025-08-20T09:27:13Z</dcterms:modified>
</cp:coreProperties>
</file>